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82"/>
    <p:restoredTop sz="94643"/>
  </p:normalViewPr>
  <p:slideViewPr>
    <p:cSldViewPr snapToGrid="0">
      <p:cViewPr varScale="1">
        <p:scale>
          <a:sx n="89" d="100"/>
          <a:sy n="89" d="100"/>
        </p:scale>
        <p:origin x="1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8DF-1E24-6DF0-1036-E25E68685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51511-5AD1-355E-92DA-9FC6BE4A3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798F-1D98-5F52-F892-4299A9C9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D9149-0AAE-02B6-358F-BE655927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D165B-45D1-375D-064A-21A8EEBC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8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7B86-AFE7-97F4-C0E2-C6A50208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8094-C56F-759F-AA78-55A8C0224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57127-5EDF-6775-DB3E-B6425F222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32E92-2B0C-8734-BC41-C903F90F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28998-19A2-2E1F-A623-EA8A1263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9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CB47-3C47-8037-F9AA-4295D0AD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202CA-3549-BAF6-C6E1-E22019FD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6F54A-6DB8-37D7-DF17-CEE86E7C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CD9FC-16F7-C854-AA50-3216070E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76A20-340F-8144-136E-B79E895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0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E61B-A2B6-DB8D-C8DD-E2E1CC85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EEAA3-8F51-BBE0-F489-53F79EDAC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3CE13-4C31-98A5-4DEA-CA6CA92AB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1BC49-69AD-2E7A-1A5C-F43CC9D2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29BC8-68BC-DA49-8755-0D4ECED0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69787-3BC7-CAEB-B7C5-59AFE353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1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B465-B84F-0A8F-68C3-2FBDBE4F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804F6-696B-B0F6-00DA-CA5337E9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9B052-B1EF-6B68-75DA-F25F97C74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65C1A-7CD7-0A09-D9FD-962B70DA9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2F239-C6FD-5475-21F2-BD4066874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5B547-5337-166C-1B0F-2DC2A02A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B0878-797D-640E-C143-5DCD3BD9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B8896-5733-BC1B-D49A-AA8441BC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40CE-98DB-7B08-6FFA-5C26489C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E415D-CD65-DED2-E22D-06B9ACB7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A4EEA-AB0B-D2FE-0F40-62E4C508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D5F7C-7B16-3DD3-9A09-1366E6D0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4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88CB0-9B9F-5CA0-F63F-6CB66BCD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07BEB4-8453-9C4D-8D2D-732CBD03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B79D-DBB6-365B-A9C8-70C042FE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5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EB98-90AC-2E74-FFD9-82128490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5CB6B-5C68-35A9-3617-F4F082A9F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02ABC-2DD0-D95B-CA91-A50FC5C4D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95354-6007-93A4-95AD-E6CDF3D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2377-C1A1-53F2-9181-ED9758BA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CFD3F-D1D5-74A3-FAB5-027125AA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E4D09-99E1-D117-32EB-4A92C6A8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727415-19D2-98F1-24D4-AD6692ED3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FEB2A-A6FC-B644-1EF7-833B6BAC8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3F404-05A1-DD87-6FE3-79F87B32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2F94-2BF8-CE3E-5B3C-CFB7F375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63B68-52B1-0E5A-9B64-366F6189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9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669A-3DF9-CFAE-F574-85B41723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7A280-6E2A-0EF6-2C86-4BA73B412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F529B-DF93-608E-AD74-F23BC611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043F6-D2BA-555D-1993-0F9DC2BB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B08D5-408A-FB0B-7B88-1D4A934B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1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7A4AD-C9A4-BE7A-AE50-D3B1474B9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37F05-6EFE-CD27-E24A-EC983D5EE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90457-0751-2A94-27F8-C5B72C42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E69D4-D803-189F-89F6-1BD510BE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7355E-F3A9-0FCC-EC17-67B1D7B4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4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14706-009D-4148-C4C0-EEA1F3C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76DD6-2318-CE5C-5B6B-F8E13103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716BE-D526-1492-E2B6-A39E22985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22873-F596-EA46-92A0-85A6E6D8C46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9E43-F891-F74E-C8B3-89C7F52DD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94C68-62CD-9E1F-E6D4-6F8308F30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41C9E-7C66-1B4B-B998-90A6D19E7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9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vxlKgMNDALpw3Bk0XbqXdaEeeqdlZzB/view?usp=sharingb" TargetMode="External"/><Relationship Id="rId2" Type="http://schemas.openxmlformats.org/officeDocument/2006/relationships/hyperlink" Target="https://github.com/munificent/craftinginterpreters/blob/master/java/com/craftinginterpreters/lox/Lox.jav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8B56C-BF76-52DA-AD15-F24B3ADE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Analisis Leksikal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2F628-F62D-034E-E38F-1C923C5F8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Pertemuan 4 </a:t>
            </a:r>
          </a:p>
          <a:p>
            <a:pPr algn="l"/>
            <a:r>
              <a:rPr lang="en-US" sz="2000">
                <a:solidFill>
                  <a:srgbClr val="FFFFFF"/>
                </a:solidFill>
              </a:rPr>
              <a:t>Matakuliah Programming Language Pragmatics 2026</a:t>
            </a:r>
          </a:p>
        </p:txBody>
      </p:sp>
    </p:spTree>
    <p:extLst>
      <p:ext uri="{BB962C8B-B14F-4D97-AF65-F5344CB8AC3E}">
        <p14:creationId xmlns:p14="http://schemas.microsoft.com/office/powerpoint/2010/main" val="378265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EE5B-CE46-3077-D46E-02C28DE9E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B29A-8152-1718-942C-CCF11FFC6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Diketahui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 	int total = price + 10;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Pertanyaan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ID" dirty="0"/>
              <a:t>Pola Regular Expression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dirty="0" err="1"/>
              <a:t>bagian-bagian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source code </a:t>
            </a:r>
            <a:r>
              <a:rPr lang="en-ID" dirty="0" err="1"/>
              <a:t>tersebut</a:t>
            </a:r>
            <a:r>
              <a:rPr lang="en-ID" dirty="0"/>
              <a:t>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95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7CDE-0EED-E388-C2FA-ABFE9D90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Pembentukan</a:t>
            </a:r>
            <a:r>
              <a:rPr lang="en-US" dirty="0"/>
              <a:t> </a:t>
            </a:r>
            <a:r>
              <a:rPr lang="en-US" i="1" dirty="0"/>
              <a:t>Lexeme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99F517-BD0E-9449-99F4-A9CCC26CE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455926"/>
              </p:ext>
            </p:extLst>
          </p:nvPr>
        </p:nvGraphicFramePr>
        <p:xfrm>
          <a:off x="938213" y="1939924"/>
          <a:ext cx="10415592" cy="12176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80">
                  <a:extLst>
                    <a:ext uri="{9D8B030D-6E8A-4147-A177-3AD203B41FA5}">
                      <a16:colId xmlns:a16="http://schemas.microsoft.com/office/drawing/2014/main" val="2211762027"/>
                    </a:ext>
                  </a:extLst>
                </a:gridCol>
                <a:gridCol w="500884">
                  <a:extLst>
                    <a:ext uri="{9D8B030D-6E8A-4147-A177-3AD203B41FA5}">
                      <a16:colId xmlns:a16="http://schemas.microsoft.com/office/drawing/2014/main" val="522255702"/>
                    </a:ext>
                  </a:extLst>
                </a:gridCol>
                <a:gridCol w="468917">
                  <a:extLst>
                    <a:ext uri="{9D8B030D-6E8A-4147-A177-3AD203B41FA5}">
                      <a16:colId xmlns:a16="http://schemas.microsoft.com/office/drawing/2014/main" val="2827199449"/>
                    </a:ext>
                  </a:extLst>
                </a:gridCol>
                <a:gridCol w="479571">
                  <a:extLst>
                    <a:ext uri="{9D8B030D-6E8A-4147-A177-3AD203B41FA5}">
                      <a16:colId xmlns:a16="http://schemas.microsoft.com/office/drawing/2014/main" val="3231370267"/>
                    </a:ext>
                  </a:extLst>
                </a:gridCol>
                <a:gridCol w="458257">
                  <a:extLst>
                    <a:ext uri="{9D8B030D-6E8A-4147-A177-3AD203B41FA5}">
                      <a16:colId xmlns:a16="http://schemas.microsoft.com/office/drawing/2014/main" val="2023874329"/>
                    </a:ext>
                  </a:extLst>
                </a:gridCol>
                <a:gridCol w="479571">
                  <a:extLst>
                    <a:ext uri="{9D8B030D-6E8A-4147-A177-3AD203B41FA5}">
                      <a16:colId xmlns:a16="http://schemas.microsoft.com/office/drawing/2014/main" val="2553723910"/>
                    </a:ext>
                  </a:extLst>
                </a:gridCol>
                <a:gridCol w="490227">
                  <a:extLst>
                    <a:ext uri="{9D8B030D-6E8A-4147-A177-3AD203B41FA5}">
                      <a16:colId xmlns:a16="http://schemas.microsoft.com/office/drawing/2014/main" val="371813472"/>
                    </a:ext>
                  </a:extLst>
                </a:gridCol>
                <a:gridCol w="479573">
                  <a:extLst>
                    <a:ext uri="{9D8B030D-6E8A-4147-A177-3AD203B41FA5}">
                      <a16:colId xmlns:a16="http://schemas.microsoft.com/office/drawing/2014/main" val="2369158817"/>
                    </a:ext>
                  </a:extLst>
                </a:gridCol>
                <a:gridCol w="500884">
                  <a:extLst>
                    <a:ext uri="{9D8B030D-6E8A-4147-A177-3AD203B41FA5}">
                      <a16:colId xmlns:a16="http://schemas.microsoft.com/office/drawing/2014/main" val="1232298198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2126115669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1785561519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37333868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469344659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2499207621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323475522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493644820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1763540064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319345548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2105854012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1834152790"/>
                    </a:ext>
                  </a:extLst>
                </a:gridCol>
                <a:gridCol w="511544">
                  <a:extLst>
                    <a:ext uri="{9D8B030D-6E8A-4147-A177-3AD203B41FA5}">
                      <a16:colId xmlns:a16="http://schemas.microsoft.com/office/drawing/2014/main" val="1075146434"/>
                    </a:ext>
                  </a:extLst>
                </a:gridCol>
              </a:tblGrid>
              <a:tr h="40587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7397"/>
                  </a:ext>
                </a:extLst>
              </a:tr>
              <a:tr h="4058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181338"/>
                  </a:ext>
                </a:extLst>
              </a:tr>
              <a:tr h="40587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348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10A503-F4FE-3B5C-EE4A-5C383A0F6074}"/>
              </a:ext>
            </a:extLst>
          </p:cNvPr>
          <p:cNvSpPr txBox="1"/>
          <p:nvPr/>
        </p:nvSpPr>
        <p:spPr>
          <a:xfrm>
            <a:off x="838200" y="3843337"/>
            <a:ext cx="8945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Apa yang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karakter-karakter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dikelompokkan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lexeme?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8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CFEBE-A4FE-D1F8-23BA-3EE5A9387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Menentukan</a:t>
            </a:r>
            <a:r>
              <a:rPr lang="en-US" sz="4000" dirty="0">
                <a:solidFill>
                  <a:srgbClr val="FFFFFF"/>
                </a:solidFill>
              </a:rPr>
              <a:t> Pola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BAE86-17B1-60FE-B922-CEBCF98097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804434"/>
              </p:ext>
            </p:extLst>
          </p:nvPr>
        </p:nvGraphicFramePr>
        <p:xfrm>
          <a:off x="4905052" y="1193327"/>
          <a:ext cx="6666834" cy="4568152"/>
        </p:xfrm>
        <a:graphic>
          <a:graphicData uri="http://schemas.openxmlformats.org/drawingml/2006/table">
            <a:tbl>
              <a:tblPr/>
              <a:tblGrid>
                <a:gridCol w="2589741">
                  <a:extLst>
                    <a:ext uri="{9D8B030D-6E8A-4147-A177-3AD203B41FA5}">
                      <a16:colId xmlns:a16="http://schemas.microsoft.com/office/drawing/2014/main" val="263681679"/>
                    </a:ext>
                  </a:extLst>
                </a:gridCol>
                <a:gridCol w="4077093">
                  <a:extLst>
                    <a:ext uri="{9D8B030D-6E8A-4147-A177-3AD203B41FA5}">
                      <a16:colId xmlns:a16="http://schemas.microsoft.com/office/drawing/2014/main" val="2023885130"/>
                    </a:ext>
                  </a:extLst>
                </a:gridCol>
              </a:tblGrid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Lexeme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Pattern/Regex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917043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066074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total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16618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80630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price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11852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682179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751403"/>
                  </a:ext>
                </a:extLst>
              </a:tr>
              <a:tr h="5710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Courier New" panose="02070309020205020404" pitchFamily="49" charset="0"/>
                        </a:rPr>
                        <a:t>;</a:t>
                      </a:r>
                      <a:endParaRPr lang="en-ID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29777" marR="129777" marT="64888" marB="64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01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35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C3FDF-E9AC-D6C7-C373-089B6E738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Jenis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Token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872D3E-4303-D1C7-1FD8-37367E20F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485" y="1966293"/>
            <a:ext cx="983902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7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532DF-A57E-732A-6CD1-EE25F83D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Dari </a:t>
            </a:r>
            <a:r>
              <a:rPr lang="en-US" sz="40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Lexem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3B4B1-C649-3F42-78A4-1E057827480C}"/>
              </a:ext>
            </a:extLst>
          </p:cNvPr>
          <p:cNvSpPr txBox="1"/>
          <p:nvPr/>
        </p:nvSpPr>
        <p:spPr>
          <a:xfrm>
            <a:off x="1628400" y="4663177"/>
            <a:ext cx="9658725" cy="87361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&lt;int&gt;&lt;id, total&gt;&lt;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assign_op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, =&gt;&lt;id, price&gt;&lt;op, +&gt;&lt;num, 10&gt;&lt;special,;&gt;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B750F8-D016-9F9A-FDCF-26D790E0F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8828105"/>
              </p:ext>
            </p:extLst>
          </p:nvPr>
        </p:nvGraphicFramePr>
        <p:xfrm>
          <a:off x="2183060" y="2488450"/>
          <a:ext cx="7825875" cy="14498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434">
                  <a:extLst>
                    <a:ext uri="{9D8B030D-6E8A-4147-A177-3AD203B41FA5}">
                      <a16:colId xmlns:a16="http://schemas.microsoft.com/office/drawing/2014/main" val="1251387747"/>
                    </a:ext>
                  </a:extLst>
                </a:gridCol>
                <a:gridCol w="1003405">
                  <a:extLst>
                    <a:ext uri="{9D8B030D-6E8A-4147-A177-3AD203B41FA5}">
                      <a16:colId xmlns:a16="http://schemas.microsoft.com/office/drawing/2014/main" val="3952631497"/>
                    </a:ext>
                  </a:extLst>
                </a:gridCol>
                <a:gridCol w="1822511">
                  <a:extLst>
                    <a:ext uri="{9D8B030D-6E8A-4147-A177-3AD203B41FA5}">
                      <a16:colId xmlns:a16="http://schemas.microsoft.com/office/drawing/2014/main" val="3420832917"/>
                    </a:ext>
                  </a:extLst>
                </a:gridCol>
                <a:gridCol w="1088728">
                  <a:extLst>
                    <a:ext uri="{9D8B030D-6E8A-4147-A177-3AD203B41FA5}">
                      <a16:colId xmlns:a16="http://schemas.microsoft.com/office/drawing/2014/main" val="1946856877"/>
                    </a:ext>
                  </a:extLst>
                </a:gridCol>
                <a:gridCol w="764499">
                  <a:extLst>
                    <a:ext uri="{9D8B030D-6E8A-4147-A177-3AD203B41FA5}">
                      <a16:colId xmlns:a16="http://schemas.microsoft.com/office/drawing/2014/main" val="1758318789"/>
                    </a:ext>
                  </a:extLst>
                </a:gridCol>
                <a:gridCol w="1020470">
                  <a:extLst>
                    <a:ext uri="{9D8B030D-6E8A-4147-A177-3AD203B41FA5}">
                      <a16:colId xmlns:a16="http://schemas.microsoft.com/office/drawing/2014/main" val="821190768"/>
                    </a:ext>
                  </a:extLst>
                </a:gridCol>
                <a:gridCol w="1378828">
                  <a:extLst>
                    <a:ext uri="{9D8B030D-6E8A-4147-A177-3AD203B41FA5}">
                      <a16:colId xmlns:a16="http://schemas.microsoft.com/office/drawing/2014/main" val="1446008591"/>
                    </a:ext>
                  </a:extLst>
                </a:gridCol>
              </a:tblGrid>
              <a:tr h="540610">
                <a:tc>
                  <a:txBody>
                    <a:bodyPr/>
                    <a:lstStyle/>
                    <a:p>
                      <a:r>
                        <a:rPr lang="en-US" sz="2400"/>
                        <a:t>int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total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=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price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+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;</a:t>
                      </a:r>
                    </a:p>
                  </a:txBody>
                  <a:tcPr marL="122866" marR="122866" marT="61433" marB="61433"/>
                </a:tc>
                <a:extLst>
                  <a:ext uri="{0D108BD9-81ED-4DB2-BD59-A6C34878D82A}">
                    <a16:rowId xmlns:a16="http://schemas.microsoft.com/office/drawing/2014/main" val="2694166711"/>
                  </a:ext>
                </a:extLst>
              </a:tr>
              <a:tr h="909208">
                <a:tc>
                  <a:txBody>
                    <a:bodyPr/>
                    <a:lstStyle/>
                    <a:p>
                      <a:r>
                        <a:rPr lang="en-US" sz="2400"/>
                        <a:t>int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assign_op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op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num</a:t>
                      </a:r>
                    </a:p>
                  </a:txBody>
                  <a:tcPr marL="122866" marR="122866" marT="61433" marB="6143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special char</a:t>
                      </a:r>
                    </a:p>
                  </a:txBody>
                  <a:tcPr marL="122866" marR="122866" marT="61433" marB="61433"/>
                </a:tc>
                <a:extLst>
                  <a:ext uri="{0D108BD9-81ED-4DB2-BD59-A6C34878D82A}">
                    <a16:rowId xmlns:a16="http://schemas.microsoft.com/office/drawing/2014/main" val="387489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23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0FBA5-BDD5-FCB7-2FDB-0A794C8B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Instruksi Praktikum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8AEE-1D17-02D2-E1A4-ECE32625B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0" y="2471738"/>
            <a:ext cx="10544175" cy="3129766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3200" dirty="0" err="1"/>
              <a:t>Jalankan</a:t>
            </a:r>
            <a:r>
              <a:rPr lang="en-US" sz="3200" dirty="0"/>
              <a:t> program scanner </a:t>
            </a:r>
            <a:r>
              <a:rPr lang="en-US" sz="3200" dirty="0" err="1"/>
              <a:t>terlampir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menghasilkan</a:t>
            </a:r>
            <a:r>
              <a:rPr lang="en-US" sz="3200" dirty="0"/>
              <a:t> token ! </a:t>
            </a:r>
            <a:r>
              <a:rPr lang="en-US" sz="3200" dirty="0">
                <a:hlinkClick r:id="rId2"/>
              </a:rPr>
              <a:t>https://github.com/munificent/craftinginterpreters/blob/master/java/com/craftinginterpreters/lox/Lox.java</a:t>
            </a:r>
            <a:endParaRPr lang="en-US" sz="3200" dirty="0"/>
          </a:p>
          <a:p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lanjut</a:t>
            </a:r>
            <a:r>
              <a:rPr lang="en-US" sz="3200" dirty="0"/>
              <a:t> </a:t>
            </a:r>
            <a:r>
              <a:rPr lang="en-US" sz="3200" dirty="0" err="1"/>
              <a:t>baca</a:t>
            </a:r>
            <a:r>
              <a:rPr lang="en-US" sz="3200" dirty="0"/>
              <a:t> </a:t>
            </a:r>
            <a:r>
              <a:rPr lang="en-US" sz="3200" dirty="0" err="1"/>
              <a:t>Buku</a:t>
            </a:r>
            <a:r>
              <a:rPr lang="en-US" sz="3200" dirty="0"/>
              <a:t> Crafting Interpreter </a:t>
            </a:r>
            <a:r>
              <a:rPr lang="en-US" sz="3200" dirty="0" err="1"/>
              <a:t>Penulis</a:t>
            </a:r>
            <a:r>
              <a:rPr lang="en-US" sz="3200" dirty="0"/>
              <a:t> Robert Nystrom. </a:t>
            </a:r>
            <a:r>
              <a:rPr lang="en-US" sz="3200" dirty="0">
                <a:hlinkClick r:id="rId3"/>
              </a:rPr>
              <a:t>https://drive.google.com/file/d/1WvxlKgMNDALpw3Bk0XbqXdaEeeqdlZzB/view?usp=sharingb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110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0E633-481D-1E14-7B13-1EAB3F43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Latihan : </a:t>
            </a:r>
            <a:r>
              <a:rPr lang="en-US" sz="4000" dirty="0" err="1">
                <a:solidFill>
                  <a:srgbClr val="FFFFFF"/>
                </a:solidFill>
              </a:rPr>
              <a:t>Identifikasi</a:t>
            </a:r>
            <a:r>
              <a:rPr lang="en-US" sz="4000" dirty="0">
                <a:solidFill>
                  <a:srgbClr val="FFFFFF"/>
                </a:solidFill>
              </a:rPr>
              <a:t>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992B-067E-C745-E6E1-17C7FC401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Perhatikan beberapa potongan source code berikut.</a:t>
            </a:r>
          </a:p>
          <a:p>
            <a:pPr marL="514350" indent="-514350">
              <a:buAutoNum type="alphaLcPeriod"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int diskon = total &gt; 200000 ? total * 10 / 100 : 0;</a:t>
            </a:r>
          </a:p>
          <a:p>
            <a:pPr marL="498475" indent="-498475">
              <a:buNone/>
            </a:pPr>
            <a:r>
              <a:rPr lang="en-ID" sz="2000">
                <a:latin typeface="Courier New" panose="02070309020205020404" pitchFamily="49" charset="0"/>
                <a:cs typeface="Courier New" panose="02070309020205020404" pitchFamily="49" charset="0"/>
              </a:rPr>
              <a:t>b.</a:t>
            </a:r>
            <a:r>
              <a:rPr lang="en-ID" sz="2000"/>
              <a:t>   </a:t>
            </a:r>
            <a:r>
              <a:rPr lang="en-ID" sz="2000">
                <a:latin typeface="Courier New" panose="02070309020205020404" pitchFamily="49" charset="0"/>
                <a:cs typeface="Courier New" panose="02070309020205020404" pitchFamily="49" charset="0"/>
              </a:rPr>
              <a:t>for (i = 0; i &lt; 10; i++) {</a:t>
            </a:r>
          </a:p>
          <a:p>
            <a:pPr marL="498475" indent="-498475">
              <a:buNone/>
            </a:pPr>
            <a:r>
              <a:rPr lang="en-ID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total = total + i;</a:t>
            </a:r>
          </a:p>
          <a:p>
            <a:pPr marL="498475" indent="-498475">
              <a:buNone/>
            </a:pPr>
            <a:r>
              <a:rPr lang="en-ID" sz="20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D" sz="2000"/>
              <a:t>Tentukan token yang dihasilkan dari potongan </a:t>
            </a:r>
            <a:r>
              <a:rPr lang="en-ID" sz="2000" i="1"/>
              <a:t>source code</a:t>
            </a:r>
            <a:r>
              <a:rPr lang="en-ID" sz="2000"/>
              <a:t> tersebut ! Kerjakan latihan dalam dua tahap: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ID" sz="2000"/>
              <a:t>Identifikasi setiap </a:t>
            </a:r>
            <a:r>
              <a:rPr lang="en-ID" sz="2000" i="1"/>
              <a:t>lexeme</a:t>
            </a:r>
            <a:r>
              <a:rPr lang="en-ID" sz="2000"/>
              <a:t> dan tentukan jenis token di atas kertas.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ID" sz="2000"/>
              <a:t>Jalankan program lexer yang telah dibuat, kemudian catat token yang dihasilkan oleh program.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ID" sz="2000"/>
              <a:t>Bandingkan kedua hasil tersebut !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1797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298</Words>
  <Application>Microsoft Macintosh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Analisis Leksikal</vt:lpstr>
      <vt:lpstr>Regular Expression</vt:lpstr>
      <vt:lpstr>Pembentukan Lexeme</vt:lpstr>
      <vt:lpstr>Menentukan Pola</vt:lpstr>
      <vt:lpstr>Jenis Token</vt:lpstr>
      <vt:lpstr>Dari Lexem ke Token</vt:lpstr>
      <vt:lpstr>Instruksi Praktikum</vt:lpstr>
      <vt:lpstr>Latihan : Identifikasi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Rahil Jumiyani</dc:creator>
  <cp:lastModifiedBy>Rahil Jumiyani</cp:lastModifiedBy>
  <cp:revision>1</cp:revision>
  <dcterms:created xsi:type="dcterms:W3CDTF">2026-10-07T04:43:36Z</dcterms:created>
  <dcterms:modified xsi:type="dcterms:W3CDTF">2026-10-08T04:15:50Z</dcterms:modified>
</cp:coreProperties>
</file>