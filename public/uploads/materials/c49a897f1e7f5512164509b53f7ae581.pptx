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85" d="100"/>
          <a:sy n="85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EBAC-C1CD-0304-1BAD-8E9B9C2B2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0DFE0-FFE4-84BA-EC7E-19D65CAAF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0286C-5135-3DC1-829A-D565DDE1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318C-FFCA-8D80-8919-842045A5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777E6-83E4-61EC-B889-E38373A2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12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1E5F-C53D-3510-CD9D-FABD04F2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3D0A-0EEB-ADD5-00F4-FAD81CBD4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E444-D051-3D6C-7E8D-C662E461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96230-C67E-7BA8-1E35-0A4DE344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9D94-1CE7-B56D-E612-BA31A9CB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3489-930A-90B9-035D-9FF1C24D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7A82E-32FB-4775-6CAE-FDE0C119E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52A54-C30A-5C18-2574-D7EF4AC3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16BD2-E895-5788-4A2D-E4CCB651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27E88-E323-BBC0-BE53-7B5908D5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9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5A19-504A-38A0-9C12-46BECDCD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67E64-4832-FB77-FD0B-69DCC017C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97156-40B1-0660-E403-06A99375D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4588F-DE14-9FA0-B195-BEA6280F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E8EA6-A295-8A3F-4B14-1CE6DFBE2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89094-AA3B-B8F8-6B86-D25A3A79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8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F770-15D1-06CA-3D1A-305D83685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D435E-ED18-2F75-8C05-CD81636C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EE754-D554-988E-22C8-9145319F7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51FC9-A37B-85BA-FDC6-7E4FFE8E8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78A0A-58D0-9E6A-6615-519774B25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3C3EE-81C1-66FD-EB03-DB8A057E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6E667-AE69-7530-95EA-A3CB76CA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EEC70-3C63-BE21-498D-17F9AE53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9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263B-985F-30DD-E897-F66CBA928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C1BC0-AA8F-B8A3-5726-41F61B48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EA96B-8B3E-E08B-A982-2FB4C719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CFA72-AB6B-08B1-E869-6E04AF9C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16635-1550-727C-D8F1-976AD236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D0FF2-104A-CA2C-C0A3-0229B473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DA94A-A3A2-108D-D368-F546F426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E6B4-DE3A-7DBA-ED74-0EE4B901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5CB60-90F7-2981-14FC-7EAC7580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118B-CD56-73FF-20AA-874C01465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7B3F6-BD49-32B0-8DC0-EFC13BC2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7C091-9396-01FC-213E-C94180CB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06E29-51B1-3367-149D-45E8EE0A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8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249C-E2C5-AD68-8C91-CB1927BA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848E4C-7B69-00F8-B840-415D24EBC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30B4F-689B-7379-7B10-EEF83887F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DD8C-B993-4EEB-3732-CF2AE226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01C82-F429-E96F-718B-422F6DF8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A6473-C55C-5F31-2A8A-C9576E9C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F410-3874-3980-D9D0-CF21BE61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B2023-6D8B-B448-C708-77E8029F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3FB8A-2E0E-A4D6-5FB6-2A1AE837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4A9A1-E2B2-5CA9-E6BB-F6C43928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D427F-1DE3-280F-42EF-1456D955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EECDB-394E-99F4-0685-CB13F000A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C6832-7410-E360-0B93-6F7A6636F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1368D-78A5-8D9A-0829-FF4700E7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4CCE-B171-007C-CCCC-ACFF3B64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B08E-6912-A100-2CF2-3332C22F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57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D93E7-67F1-A706-42E6-6353B2C3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FECD4-ED43-46CE-0AC4-F36F3147A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DCE3F-9E59-3B2A-D5DD-1918CB65E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A5648-0953-FA4B-8EEF-D6A0B2AF98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0EE8-A14B-0598-CDB7-81E36607A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BBECE-BD7D-C220-CBE3-AF531559A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8B591-D9D1-0545-A655-E3A9343B1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4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B61BD-EBD9-799C-EEF2-761916FB9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Pertemuan 2</a:t>
            </a:r>
            <a:br>
              <a:rPr lang="en-US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Paradigma Bahasa Pemrograman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03BB1-F93C-475D-5A70-1E4BAB7F7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Matakuliah Programming Language Pragmatics 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9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CC84B-AF28-D2A3-9800-97BB9885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49112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D" sz="40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Paradigma</a:t>
            </a:r>
            <a:r>
              <a:rPr lang="en-ID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ID" sz="40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E687DE-91C3-4BD3-BD99-32D838BF05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534957"/>
              </p:ext>
            </p:extLst>
          </p:nvPr>
        </p:nvGraphicFramePr>
        <p:xfrm>
          <a:off x="644056" y="2147910"/>
          <a:ext cx="10927830" cy="41221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1109">
                  <a:extLst>
                    <a:ext uri="{9D8B030D-6E8A-4147-A177-3AD203B41FA5}">
                      <a16:colId xmlns:a16="http://schemas.microsoft.com/office/drawing/2014/main" val="3458401826"/>
                    </a:ext>
                  </a:extLst>
                </a:gridCol>
                <a:gridCol w="3056817">
                  <a:extLst>
                    <a:ext uri="{9D8B030D-6E8A-4147-A177-3AD203B41FA5}">
                      <a16:colId xmlns:a16="http://schemas.microsoft.com/office/drawing/2014/main" val="678171221"/>
                    </a:ext>
                  </a:extLst>
                </a:gridCol>
                <a:gridCol w="3157821">
                  <a:extLst>
                    <a:ext uri="{9D8B030D-6E8A-4147-A177-3AD203B41FA5}">
                      <a16:colId xmlns:a16="http://schemas.microsoft.com/office/drawing/2014/main" val="2256403400"/>
                    </a:ext>
                  </a:extLst>
                </a:gridCol>
                <a:gridCol w="2232083">
                  <a:extLst>
                    <a:ext uri="{9D8B030D-6E8A-4147-A177-3AD203B41FA5}">
                      <a16:colId xmlns:a16="http://schemas.microsoft.com/office/drawing/2014/main" val="1593301969"/>
                    </a:ext>
                  </a:extLst>
                </a:gridCol>
              </a:tblGrid>
              <a:tr h="4237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900" b="1" dirty="0" err="1"/>
                        <a:t>Paradigma</a:t>
                      </a:r>
                      <a:endParaRPr lang="en-ID"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900" b="1" dirty="0"/>
                        <a:t>Cara </a:t>
                      </a:r>
                      <a:r>
                        <a:rPr lang="en-ID" sz="1900" b="1" dirty="0" err="1"/>
                        <a:t>berpikir</a:t>
                      </a:r>
                      <a:endParaRPr lang="en-ID"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900" b="1" dirty="0" err="1"/>
                        <a:t>Abstraksi</a:t>
                      </a:r>
                      <a:r>
                        <a:rPr lang="en-ID" sz="1900" b="1" dirty="0"/>
                        <a:t> </a:t>
                      </a:r>
                      <a:r>
                        <a:rPr lang="en-ID" sz="1900" b="1" dirty="0" err="1"/>
                        <a:t>utama</a:t>
                      </a:r>
                      <a:endParaRPr lang="en-ID"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900" b="1" dirty="0" err="1"/>
                        <a:t>Contoh</a:t>
                      </a:r>
                      <a:endParaRPr lang="en-ID"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3136071474"/>
                  </a:ext>
                </a:extLst>
              </a:tr>
              <a:tr h="423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Imperative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How to do it?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State &amp; statements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C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1327787093"/>
                  </a:ext>
                </a:extLst>
              </a:tr>
              <a:tr h="423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Object-Oriented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What objects interact?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Object &amp; encapsulation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Java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3227978689"/>
                  </a:ext>
                </a:extLst>
              </a:tr>
              <a:tr h="712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Functional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What transformation is applied?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Function &amp; immutability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Haskell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312151296"/>
                  </a:ext>
                </a:extLst>
              </a:tr>
              <a:tr h="712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Logic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What conditions/rules hold?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Facts &amp; rules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 err="1"/>
                        <a:t>Prolog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2574423007"/>
                  </a:ext>
                </a:extLst>
              </a:tr>
              <a:tr h="712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Concurrent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What happens simultaneously?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Processes/tasks/messages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Go, Erlang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736833922"/>
                  </a:ext>
                </a:extLst>
              </a:tr>
              <a:tr h="712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Event-driven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What happens when an event occurs?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/>
                        <a:t>Event &amp; handler</a:t>
                      </a:r>
                      <a:endParaRPr lang="en-ID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900" dirty="0"/>
                        <a:t>JavaScript</a:t>
                      </a:r>
                      <a:endParaRPr lang="en-ID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312" marR="96312" marT="48156" marB="48156" anchor="ctr"/>
                </a:tc>
                <a:extLst>
                  <a:ext uri="{0D108BD9-81ED-4DB2-BD59-A6C34878D82A}">
                    <a16:rowId xmlns:a16="http://schemas.microsoft.com/office/drawing/2014/main" val="486034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99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AA97FD-F8E8-157A-9A8A-76143A542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841"/>
          <a:stretch>
            <a:fillRect/>
          </a:stretch>
        </p:blipFill>
        <p:spPr>
          <a:xfrm>
            <a:off x="1288510" y="261534"/>
            <a:ext cx="9985830" cy="63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1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0E3E1A-5508-6C58-1314-E960AF0B5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90"/>
          <a:stretch>
            <a:fillRect/>
          </a:stretch>
        </p:blipFill>
        <p:spPr>
          <a:xfrm>
            <a:off x="1348471" y="305834"/>
            <a:ext cx="9828249" cy="62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9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7A09DF-6ABF-C75E-82F5-EFB1AED80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747"/>
          <a:stretch>
            <a:fillRect/>
          </a:stretch>
        </p:blipFill>
        <p:spPr>
          <a:xfrm>
            <a:off x="1184341" y="256992"/>
            <a:ext cx="9884218" cy="628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44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34709A-85DC-65EF-FFA5-F154BA4EF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405"/>
          <a:stretch>
            <a:fillRect/>
          </a:stretch>
        </p:blipFill>
        <p:spPr>
          <a:xfrm>
            <a:off x="1198569" y="257786"/>
            <a:ext cx="9952103" cy="634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2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92F506-C85A-8E14-BE42-D04B8DBA1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971"/>
          <a:stretch>
            <a:fillRect/>
          </a:stretch>
        </p:blipFill>
        <p:spPr>
          <a:xfrm>
            <a:off x="1212229" y="251658"/>
            <a:ext cx="9909513" cy="63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0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DD60-A7B0-D4CC-8454-D5095DE2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Keranjang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E-Commerce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D8EF2-7B52-0172-2F37-2E9BD3F3C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05651"/>
            <a:ext cx="10655461" cy="43713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keranjang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dan mobile.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memasukkan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keranjang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nama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dibeli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Ketika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memperbarui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subtotal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kuantitas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Pada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checkout,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menerapkan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potongan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pajak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pengiriman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melebihi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promosi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berlaku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potongan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berubah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kebijakan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barang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checkout, dan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memperbarui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stok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hampir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bersamaan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berdekatan</a:t>
            </a:r>
            <a:r>
              <a:rPr lang="en-ID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31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D7E6-B504-35B5-89D4-66DD7C4C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Keranjang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ID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E-Commerce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8B1A1-3D82-500D-BD4A-731F6B37D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Tantangan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pendekatan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merepresentasikan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proses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perhitungan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pendekatan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konsekuensinya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79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0B5E-E097-2483-FE45-799BF2A8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2 -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Rumah Sakit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32D9-A415-B7C0-B1EA-4F25449B1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mengelola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dokter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jadwal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pemeriksaan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identitas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riwayat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pemeriksaan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terdiri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kunjungan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dokter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spesialisasi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Ketika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petugas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pendaftaran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jadwal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pemeriksaan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Dokter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pemeriksaan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memasukkan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diagnosis,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tindakan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tersimpan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Petugas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pendaftaran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mengelola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jadwal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dokter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mengakses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memperbarui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ditanganinya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mengelola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dirancang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masa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Rumah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mungkin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kesehatan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laboratorium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04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9255-E9DF-39B7-7C24-26E3CD8E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2 -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Rumah Sakit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478B4-18D1-E982-215F-2D90D4BAC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Tantangan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merepresentasikan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perilaku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Pertimbangkan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dipelihara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bertambah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2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861F-B672-F18B-E63D-B71CFB27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—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CF4FB-D35F-0387-7785-6A62136F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nomor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barang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 total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rata-rata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total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daftar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yang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sudut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pandang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meminta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mengelompokkan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mengurutkannya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diperkirakan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bertambah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Oleh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proses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dikombinasikan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asli</a:t>
            </a:r>
            <a:r>
              <a:rPr lang="en-ID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495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9802-CB52-480B-9371-D18F8D7C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—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A343-D7C9-A36A-CD54-1C42BB0C2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Tantangan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penyaringan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pemetaan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pengelompokan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agregasi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mempertimbangkan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keterbacaan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kemungkinan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ID" dirty="0"/>
            </a:br>
            <a:endParaRPr lang="en-ID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9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49A2-31A1-96E6-4C1F-7758346F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—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DC3A9-3EC5-A0CC-523C-CC4D9BAE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sejumlah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menerima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kumpulan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apakah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terpenuhi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diperoleh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kemungkinan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jawaban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terpenuhi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keseluruhan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pencarian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berinteraksi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pertanyaan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12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CB6D-182C-FFE3-6839-F51DFA33D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—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9D704-8CF2-16E1-58F7-BCB9BF52D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Tantangan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merepresentasikan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jawaban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pertanyaan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menemukan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kemungkinan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diperiksa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38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CB2F-BBFF-D175-B85D-1B4BC361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5 -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Banyak </a:t>
            </a:r>
            <a:r>
              <a:rPr lang="en-ID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D0BC-224D-133D-DAB9-F25D729E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API.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ribuan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mengirimkan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permintaan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mengunggah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database.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permintaan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membutuhkan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pemrosesan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Sebagian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permintaan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membutuhkan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sebagian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membutuhkan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eksternal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sebagian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membutuhkan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komputasi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lama.</a:t>
            </a:r>
          </a:p>
          <a:p>
            <a:pPr marL="0" indent="0" algn="just">
              <a:buNone/>
            </a:pP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pemesanan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memeriksa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ketersediaan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barang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menyimpan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memperbarui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pembayaran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mengirimkan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notifikasi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berlangsung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selalu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menunggu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Pada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responsif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mengakses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berpotensi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konflik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dikelola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menghindari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 proses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saling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menunggu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berhenti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8967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48EC-E30E-11D2-0CA7-BE58FD99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Kasus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5 -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Banyak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0442E-F114-7494-AB6F-3BCDC8BB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Tantangan</a:t>
            </a:r>
            <a:r>
              <a:rPr lang="en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pemrosesan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berdekatan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Pertimbangkan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thread, proses, asynchronous operation,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antarproses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sinkronisasi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mencegah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konflik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446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4B99E-DA11-77EA-F24F-9552749B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Tugas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31E81-D49D-BDA4-DF66-3F237B8B4E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04123"/>
              </p:ext>
            </p:extLst>
          </p:nvPr>
        </p:nvGraphicFramePr>
        <p:xfrm>
          <a:off x="694853" y="2112579"/>
          <a:ext cx="10826236" cy="41928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63055">
                  <a:extLst>
                    <a:ext uri="{9D8B030D-6E8A-4147-A177-3AD203B41FA5}">
                      <a16:colId xmlns:a16="http://schemas.microsoft.com/office/drawing/2014/main" val="3206966444"/>
                    </a:ext>
                  </a:extLst>
                </a:gridCol>
                <a:gridCol w="4663181">
                  <a:extLst>
                    <a:ext uri="{9D8B030D-6E8A-4147-A177-3AD203B41FA5}">
                      <a16:colId xmlns:a16="http://schemas.microsoft.com/office/drawing/2014/main" val="771246544"/>
                    </a:ext>
                  </a:extLst>
                </a:gridCol>
              </a:tblGrid>
              <a:tr h="3811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700" b="1" u="none" strike="noStrike">
                          <a:effectLst/>
                        </a:rPr>
                        <a:t>Aspek Analisis</a:t>
                      </a:r>
                      <a:endParaRPr lang="en-ID" sz="17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700" b="1" u="none" strike="noStrike" dirty="0" err="1">
                          <a:effectLst/>
                        </a:rPr>
                        <a:t>Jawaban</a:t>
                      </a:r>
                      <a:endParaRPr lang="en-ID" sz="17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1101274624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Karakteristik masalah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 dirty="0">
                          <a:effectLst/>
                        </a:rPr>
                        <a:t>...</a:t>
                      </a:r>
                      <a:endParaRPr lang="en-ID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167979528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Konsep komputasi yang dominan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492570639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 dirty="0" err="1">
                          <a:effectLst/>
                        </a:rPr>
                        <a:t>Pendekatan</a:t>
                      </a:r>
                      <a:r>
                        <a:rPr lang="en-ID" sz="1700" b="0" u="none" strike="noStrike" dirty="0">
                          <a:effectLst/>
                        </a:rPr>
                        <a:t> </a:t>
                      </a:r>
                      <a:r>
                        <a:rPr lang="en-ID" sz="1700" b="0" u="none" strike="noStrike" dirty="0" err="1">
                          <a:effectLst/>
                        </a:rPr>
                        <a:t>pemrograman</a:t>
                      </a:r>
                      <a:r>
                        <a:rPr lang="en-ID" sz="1700" b="0" u="none" strike="noStrike" dirty="0">
                          <a:effectLst/>
                        </a:rPr>
                        <a:t> yang </a:t>
                      </a:r>
                      <a:r>
                        <a:rPr lang="en-ID" sz="1700" b="0" u="none" strike="noStrike" dirty="0" err="1">
                          <a:effectLst/>
                        </a:rPr>
                        <a:t>dipilih</a:t>
                      </a:r>
                      <a:endParaRPr lang="en-ID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1784342527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 dirty="0">
                          <a:effectLst/>
                        </a:rPr>
                        <a:t>Alasan </a:t>
                      </a:r>
                      <a:r>
                        <a:rPr lang="en-ID" sz="1700" b="0" u="none" strike="noStrike" dirty="0" err="1">
                          <a:effectLst/>
                        </a:rPr>
                        <a:t>pemilihan</a:t>
                      </a:r>
                      <a:r>
                        <a:rPr lang="en-ID" sz="1700" b="0" u="none" strike="noStrike" dirty="0">
                          <a:effectLst/>
                        </a:rPr>
                        <a:t> </a:t>
                      </a:r>
                      <a:r>
                        <a:rPr lang="en-ID" sz="1700" b="0" u="none" strike="noStrike" dirty="0" err="1">
                          <a:effectLst/>
                        </a:rPr>
                        <a:t>berdasarkan</a:t>
                      </a:r>
                      <a:r>
                        <a:rPr lang="en-ID" sz="1700" b="0" u="none" strike="noStrike" dirty="0">
                          <a:effectLst/>
                        </a:rPr>
                        <a:t> </a:t>
                      </a:r>
                      <a:r>
                        <a:rPr lang="en-ID" sz="1700" b="0" u="none" strike="noStrike" dirty="0" err="1">
                          <a:effectLst/>
                        </a:rPr>
                        <a:t>karakteristiknya</a:t>
                      </a:r>
                      <a:endParaRPr lang="en-ID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3468000513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 dirty="0" err="1">
                          <a:effectLst/>
                        </a:rPr>
                        <a:t>Contoh</a:t>
                      </a:r>
                      <a:r>
                        <a:rPr lang="en-ID" sz="1700" b="0" u="none" strike="noStrike" dirty="0">
                          <a:effectLst/>
                        </a:rPr>
                        <a:t> </a:t>
                      </a:r>
                      <a:r>
                        <a:rPr lang="en-ID" sz="1700" b="0" u="none" strike="noStrike" dirty="0" err="1">
                          <a:effectLst/>
                        </a:rPr>
                        <a:t>struktur</a:t>
                      </a:r>
                      <a:r>
                        <a:rPr lang="en-ID" sz="1700" b="0" u="none" strike="noStrike" dirty="0">
                          <a:effectLst/>
                        </a:rPr>
                        <a:t>/pseudocode</a:t>
                      </a:r>
                      <a:endParaRPr lang="en-ID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1267139593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Kelebihan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3647219140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Keterbatasan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454289383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Risiko terhadap kualitas software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3594192121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 dirty="0">
                          <a:effectLst/>
                        </a:rPr>
                        <a:t>ISO/IEC 25010 yang </a:t>
                      </a:r>
                      <a:r>
                        <a:rPr lang="en-ID" sz="1700" b="0" u="none" strike="noStrike" dirty="0" err="1">
                          <a:effectLst/>
                        </a:rPr>
                        <a:t>relevan</a:t>
                      </a:r>
                      <a:endParaRPr lang="en-ID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...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1106475579"/>
                  </a:ext>
                </a:extLst>
              </a:tr>
              <a:tr h="3811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>
                          <a:effectLst/>
                        </a:rPr>
                        <a:t>Apakah perlu kombinasi pendekatan?</a:t>
                      </a:r>
                      <a:endParaRPr lang="en-ID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700" b="0" u="none" strike="noStrike" dirty="0">
                          <a:effectLst/>
                        </a:rPr>
                        <a:t>...</a:t>
                      </a:r>
                      <a:endParaRPr lang="en-ID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28" marR="86628" marT="43314" marB="43314" anchor="ctr"/>
                </a:tc>
                <a:extLst>
                  <a:ext uri="{0D108BD9-81ED-4DB2-BD59-A6C34878D82A}">
                    <a16:rowId xmlns:a16="http://schemas.microsoft.com/office/drawing/2014/main" val="3205326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82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1168</Words>
  <Application>Microsoft Macintosh PowerPoint</Application>
  <PresentationFormat>Widescreen</PresentationFormat>
  <Paragraphs>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Pertemuan 2 Paradigma Bahasa Pemrograman</vt:lpstr>
      <vt:lpstr>Paradigma Bahasa Pemrograman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Kasus 1- Sistem Keranjang Belanja E-Commerce</vt:lpstr>
      <vt:lpstr>Kasus 1- Sistem Keranjang Belanja E-Commerce</vt:lpstr>
      <vt:lpstr>Kasus 2 - Sistem Informasi Rumah Sakit</vt:lpstr>
      <vt:lpstr>Kasus 2 - Sistem Informasi Rumah Sakit</vt:lpstr>
      <vt:lpstr>Kasus 3 — Analisis Data Penjualan</vt:lpstr>
      <vt:lpstr>Kasus 3 — Analisis Data Penjualan</vt:lpstr>
      <vt:lpstr>Kasus 4 — Sistem Pakar Rekomendasi</vt:lpstr>
      <vt:lpstr>Kasus 4 — Sistem Pakar Rekomendasi</vt:lpstr>
      <vt:lpstr>Kasus 5 - Layanan Web dengan Banyak Pengguna</vt:lpstr>
      <vt:lpstr>Kasus 5 - Layanan Web dengan Banyak Pengguna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Rahil Jumiyani</dc:creator>
  <cp:lastModifiedBy>Rahil Jumiyani</cp:lastModifiedBy>
  <cp:revision>1</cp:revision>
  <dcterms:created xsi:type="dcterms:W3CDTF">2026-09-14T02:37:21Z</dcterms:created>
  <dcterms:modified xsi:type="dcterms:W3CDTF">2026-09-14T06:01:19Z</dcterms:modified>
</cp:coreProperties>
</file>